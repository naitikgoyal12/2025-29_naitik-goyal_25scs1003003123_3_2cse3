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IBM Plex Sans Medium" panose="020B0604020202020204" charset="0"/>
      <p:regular r:id="rId13"/>
    </p:embeddedFont>
    <p:embeddedFont>
      <p:font typeface="Calibri" panose="020F0502020204030204" pitchFamily="34" charset="0"/>
      <p:regular r:id="rId14"/>
      <p:bold r:id="rId15"/>
      <p:italic r:id="rId16"/>
      <p:boldItalic r:id="rId17"/>
    </p:embeddedFont>
    <p:embeddedFont>
      <p:font typeface="IBM Plex Sans Light" panose="020B0604020202020204" charset="0"/>
      <p:regular r:id="rId18"/>
    </p:embeddedFont>
    <p:embeddedFont>
      <p:font typeface="Roboto"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6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8559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2242A"/>
          </a:solidFill>
          <a:ln/>
        </p:spPr>
      </p:sp>
      <p:sp>
        <p:nvSpPr>
          <p:cNvPr id="3" name="Shape 1"/>
          <p:cNvSpPr/>
          <p:nvPr/>
        </p:nvSpPr>
        <p:spPr>
          <a:xfrm>
            <a:off x="0" y="0"/>
            <a:ext cx="12191695" cy="68580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2947570" y="2247702"/>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F3F3F2"/>
                </a:solidFill>
                <a:latin typeface="IBM Plex Sans Medium" pitchFamily="34" charset="0"/>
                <a:ea typeface="IBM Plex Sans Medium" pitchFamily="34" charset="-122"/>
                <a:cs typeface="IBM Plex Sans Medium" pitchFamily="34" charset="-120"/>
              </a:rPr>
              <a:t>Data Science Journey: Building Intelligent Solutions</a:t>
            </a:r>
            <a:endParaRPr lang="en-US" sz="3700" dirty="0"/>
          </a:p>
        </p:txBody>
      </p:sp>
      <p:sp>
        <p:nvSpPr>
          <p:cNvPr id="4" name="Text 1"/>
          <p:cNvSpPr/>
          <p:nvPr/>
        </p:nvSpPr>
        <p:spPr>
          <a:xfrm>
            <a:off x="702464" y="3662859"/>
            <a:ext cx="6016911" cy="1119882"/>
          </a:xfrm>
          <a:prstGeom prst="rect">
            <a:avLst/>
          </a:prstGeom>
          <a:noFill/>
          <a:ln/>
        </p:spPr>
        <p:txBody>
          <a:bodyPr wrap="square" lIns="0" tIns="0" rIns="0" bIns="0" rtlCol="0" anchor="t">
            <a:noAutofit/>
          </a:bodyPr>
          <a:lstStyle/>
          <a:p>
            <a:pPr marL="0" indent="0" algn="l">
              <a:lnSpc>
                <a:spcPct val="133000"/>
              </a:lnSpc>
              <a:buNone/>
            </a:pPr>
            <a:r>
              <a:rPr lang="en-US" sz="2400" dirty="0" err="1" smtClean="0">
                <a:solidFill>
                  <a:srgbClr val="D4D4D1"/>
                </a:solidFill>
                <a:latin typeface="Roboto" pitchFamily="34" charset="0"/>
                <a:ea typeface="Roboto" pitchFamily="34" charset="-122"/>
                <a:cs typeface="Roboto" pitchFamily="34" charset="-120"/>
              </a:rPr>
              <a:t>Naitik</a:t>
            </a:r>
            <a:r>
              <a:rPr lang="en-US" sz="2400" dirty="0" smtClean="0">
                <a:solidFill>
                  <a:srgbClr val="D4D4D1"/>
                </a:solidFill>
                <a:latin typeface="Roboto" pitchFamily="34" charset="0"/>
                <a:ea typeface="Roboto" pitchFamily="34" charset="-122"/>
                <a:cs typeface="Roboto" pitchFamily="34" charset="-120"/>
              </a:rPr>
              <a:t> </a:t>
            </a:r>
            <a:r>
              <a:rPr lang="en-US" sz="2400" dirty="0" err="1" smtClean="0">
                <a:solidFill>
                  <a:srgbClr val="D4D4D1"/>
                </a:solidFill>
                <a:latin typeface="Roboto" pitchFamily="34" charset="0"/>
                <a:ea typeface="Roboto" pitchFamily="34" charset="-122"/>
                <a:cs typeface="Roboto" pitchFamily="34" charset="-120"/>
              </a:rPr>
              <a:t>Goyal</a:t>
            </a:r>
            <a:r>
              <a:rPr lang="en-US" sz="2400" dirty="0" smtClean="0">
                <a:solidFill>
                  <a:srgbClr val="D4D4D1"/>
                </a:solidFill>
                <a:latin typeface="Roboto" pitchFamily="34" charset="0"/>
                <a:ea typeface="Roboto" pitchFamily="34" charset="-122"/>
                <a:cs typeface="Roboto" pitchFamily="34" charset="-120"/>
              </a:rPr>
              <a:t> </a:t>
            </a:r>
            <a:r>
              <a:rPr lang="en-US" sz="2400" dirty="0">
                <a:solidFill>
                  <a:srgbClr val="D4D4D1"/>
                </a:solidFill>
                <a:latin typeface="Roboto" pitchFamily="34" charset="0"/>
                <a:ea typeface="Roboto" pitchFamily="34" charset="-122"/>
                <a:cs typeface="Roboto" pitchFamily="34" charset="-120"/>
              </a:rPr>
              <a:t>| Data Science Domain</a:t>
            </a:r>
            <a:endParaRPr lang="en-US" sz="2400" dirty="0"/>
          </a:p>
          <a:p>
            <a:pPr marL="0" indent="0" algn="l">
              <a:lnSpc>
                <a:spcPct val="133000"/>
              </a:lnSpc>
              <a:spcAft>
                <a:spcPts val="1650"/>
              </a:spcAft>
              <a:buNone/>
            </a:pPr>
            <a:r>
              <a:rPr lang="en-US" sz="2400" dirty="0">
                <a:solidFill>
                  <a:srgbClr val="D4D4D1"/>
                </a:solidFill>
                <a:latin typeface="Roboto" pitchFamily="34" charset="0"/>
                <a:ea typeface="Roboto" pitchFamily="34" charset="-122"/>
                <a:cs typeface="Roboto" pitchFamily="34" charset="-120"/>
              </a:rPr>
              <a:t>USC_TIA Program | Industrial Internship Project Overview</a:t>
            </a:r>
            <a:r>
              <a:rPr lang="en-US" sz="2400" dirty="0"/>
              <a:t>                                                                 </a:t>
            </a:r>
            <a:r>
              <a:rPr lang="en-US" sz="2400" dirty="0">
                <a:solidFill>
                  <a:srgbClr val="D4D4D1"/>
                </a:solidFill>
                <a:latin typeface="Roboto" pitchFamily="34" charset="0"/>
                <a:ea typeface="Roboto" pitchFamily="34" charset="-122"/>
                <a:cs typeface="Roboto" pitchFamily="34" charset="-120"/>
              </a:rPr>
              <a:t>roll no .  </a:t>
            </a:r>
            <a:r>
              <a:rPr lang="en-US" sz="2400" dirty="0" smtClean="0">
                <a:solidFill>
                  <a:srgbClr val="D4D4D1"/>
                </a:solidFill>
                <a:latin typeface="Roboto" pitchFamily="34" charset="0"/>
                <a:ea typeface="Roboto" pitchFamily="34" charset="-122"/>
                <a:cs typeface="Roboto" pitchFamily="34" charset="-120"/>
              </a:rPr>
              <a:t>25scs1003003123</a:t>
            </a:r>
            <a:endParaRPr lang="en-US" sz="2400" dirty="0"/>
          </a:p>
        </p:txBody>
      </p:sp>
      <p:pic>
        <p:nvPicPr>
          <p:cNvPr id="6" name="Picture 5">
            <a:extLst>
              <a:ext uri="{FF2B5EF4-FFF2-40B4-BE49-F238E27FC236}">
                <a16:creationId xmlns:a16="http://schemas.microsoft.com/office/drawing/2014/main" id="{5FB766E1-9830-09BE-E042-A97A699CA86A}"/>
              </a:ext>
            </a:extLst>
          </p:cNvPr>
          <p:cNvPicPr>
            <a:picLocks noChangeAspect="1"/>
          </p:cNvPicPr>
          <p:nvPr/>
        </p:nvPicPr>
        <p:blipFill>
          <a:blip r:embed="rId3"/>
          <a:stretch>
            <a:fillRect/>
          </a:stretch>
        </p:blipFill>
        <p:spPr>
          <a:xfrm>
            <a:off x="2253343" y="279750"/>
            <a:ext cx="7685314" cy="18569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744464"/>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F3F3F2"/>
                </a:solidFill>
                <a:latin typeface="IBM Plex Sans Medium" pitchFamily="34" charset="0"/>
                <a:ea typeface="IBM Plex Sans Medium" pitchFamily="34" charset="-122"/>
                <a:cs typeface="IBM Plex Sans Medium" pitchFamily="34" charset="-120"/>
              </a:rPr>
              <a:t>Internship &amp; Project Arc</a:t>
            </a:r>
            <a:endParaRPr lang="en-US" sz="2950" dirty="0"/>
          </a:p>
        </p:txBody>
      </p:sp>
      <p:pic>
        <p:nvPicPr>
          <p:cNvPr id="3" name="Image 0" descr="preencoded.png"/>
          <p:cNvPicPr>
            <a:picLocks noChangeAspect="1"/>
          </p:cNvPicPr>
          <p:nvPr/>
        </p:nvPicPr>
        <p:blipFill>
          <a:blip r:embed="rId3"/>
          <a:stretch>
            <a:fillRect/>
          </a:stretch>
        </p:blipFill>
        <p:spPr>
          <a:xfrm>
            <a:off x="661475" y="2594967"/>
            <a:ext cx="1004962" cy="621109"/>
          </a:xfrm>
          <a:prstGeom prst="rect">
            <a:avLst/>
          </a:prstGeom>
        </p:spPr>
      </p:pic>
      <p:sp>
        <p:nvSpPr>
          <p:cNvPr id="4" name="Text 1"/>
          <p:cNvSpPr/>
          <p:nvPr/>
        </p:nvSpPr>
        <p:spPr>
          <a:xfrm>
            <a:off x="1902670" y="2594967"/>
            <a:ext cx="2224230" cy="885825"/>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D4D4D1"/>
                </a:solidFill>
                <a:latin typeface="IBM Plex Sans Medium" pitchFamily="34" charset="0"/>
                <a:ea typeface="IBM Plex Sans Medium" pitchFamily="34" charset="-122"/>
                <a:cs typeface="IBM Plex Sans Medium" pitchFamily="34" charset="-120"/>
              </a:rPr>
              <a:t>Agriculture — Crop Production Prediction</a:t>
            </a:r>
            <a:endParaRPr lang="en-US" sz="1850" dirty="0"/>
          </a:p>
        </p:txBody>
      </p:sp>
      <p:sp>
        <p:nvSpPr>
          <p:cNvPr id="5" name="Text 2"/>
          <p:cNvSpPr/>
          <p:nvPr/>
        </p:nvSpPr>
        <p:spPr>
          <a:xfrm>
            <a:off x="1902670" y="3594199"/>
            <a:ext cx="2224230"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2001–2014 Indian agricultural datasets; objective: reliable yield forecasts to support farmer decision-making.</a:t>
            </a:r>
            <a:endParaRPr lang="en-US" sz="1450" dirty="0"/>
          </a:p>
        </p:txBody>
      </p:sp>
      <p:pic>
        <p:nvPicPr>
          <p:cNvPr id="6" name="Image 1" descr="preencoded.png"/>
          <p:cNvPicPr>
            <a:picLocks noChangeAspect="1"/>
          </p:cNvPicPr>
          <p:nvPr/>
        </p:nvPicPr>
        <p:blipFill>
          <a:blip r:embed="rId4"/>
          <a:stretch>
            <a:fillRect/>
          </a:stretch>
        </p:blipFill>
        <p:spPr>
          <a:xfrm>
            <a:off x="4363135" y="2594967"/>
            <a:ext cx="1004962" cy="621109"/>
          </a:xfrm>
          <a:prstGeom prst="rect">
            <a:avLst/>
          </a:prstGeom>
        </p:spPr>
      </p:pic>
      <p:sp>
        <p:nvSpPr>
          <p:cNvPr id="7" name="Text 3"/>
          <p:cNvSpPr/>
          <p:nvPr/>
        </p:nvSpPr>
        <p:spPr>
          <a:xfrm>
            <a:off x="5604330" y="2594967"/>
            <a:ext cx="222423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D4D4D1"/>
                </a:solidFill>
                <a:latin typeface="IBM Plex Sans Medium" pitchFamily="34" charset="0"/>
                <a:ea typeface="IBM Plex Sans Medium" pitchFamily="34" charset="-122"/>
                <a:cs typeface="IBM Plex Sans Medium" pitchFamily="34" charset="-120"/>
              </a:rPr>
              <a:t>Smart City — Traffic Forecasting</a:t>
            </a:r>
            <a:endParaRPr lang="en-US" sz="1850" dirty="0"/>
          </a:p>
        </p:txBody>
      </p:sp>
      <p:sp>
        <p:nvSpPr>
          <p:cNvPr id="8" name="Text 4"/>
          <p:cNvSpPr/>
          <p:nvPr/>
        </p:nvSpPr>
        <p:spPr>
          <a:xfrm>
            <a:off x="5604330" y="3298924"/>
            <a:ext cx="2224230"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Real-time AI-driven urban mobility: reduce congestion, prioritize emergency routing, and optimize emissions-aware routing.</a:t>
            </a:r>
            <a:endParaRPr lang="en-US" sz="1450" dirty="0"/>
          </a:p>
        </p:txBody>
      </p:sp>
      <p:pic>
        <p:nvPicPr>
          <p:cNvPr id="9" name="Image 2" descr="preencoded.png"/>
          <p:cNvPicPr>
            <a:picLocks noChangeAspect="1"/>
          </p:cNvPicPr>
          <p:nvPr/>
        </p:nvPicPr>
        <p:blipFill>
          <a:blip r:embed="rId5"/>
          <a:stretch>
            <a:fillRect/>
          </a:stretch>
        </p:blipFill>
        <p:spPr>
          <a:xfrm>
            <a:off x="8064794" y="2594967"/>
            <a:ext cx="1004962" cy="621109"/>
          </a:xfrm>
          <a:prstGeom prst="rect">
            <a:avLst/>
          </a:prstGeom>
        </p:spPr>
      </p:pic>
      <p:sp>
        <p:nvSpPr>
          <p:cNvPr id="10" name="Text 5"/>
          <p:cNvSpPr/>
          <p:nvPr/>
        </p:nvSpPr>
        <p:spPr>
          <a:xfrm>
            <a:off x="9305990" y="2594967"/>
            <a:ext cx="2224230" cy="295275"/>
          </a:xfrm>
          <a:prstGeom prst="rect">
            <a:avLst/>
          </a:prstGeom>
          <a:noFill/>
          <a:ln/>
        </p:spPr>
        <p:txBody>
          <a:bodyPr wrap="none" lIns="0" tIns="0" rIns="0" bIns="0" rtlCol="0" anchor="t"/>
          <a:lstStyle/>
          <a:p>
            <a:pPr marL="0" indent="0" algn="l">
              <a:lnSpc>
                <a:spcPct val="104000"/>
              </a:lnSpc>
              <a:buNone/>
            </a:pPr>
            <a:r>
              <a:rPr lang="en-US" sz="1850" dirty="0">
                <a:solidFill>
                  <a:srgbClr val="D4D4D1"/>
                </a:solidFill>
                <a:latin typeface="IBM Plex Sans Medium" pitchFamily="34" charset="0"/>
                <a:ea typeface="IBM Plex Sans Medium" pitchFamily="34" charset="-122"/>
                <a:cs typeface="IBM Plex Sans Medium" pitchFamily="34" charset="-120"/>
              </a:rPr>
              <a:t>Goal</a:t>
            </a:r>
            <a:endParaRPr lang="en-US" sz="1850" dirty="0"/>
          </a:p>
        </p:txBody>
      </p:sp>
      <p:sp>
        <p:nvSpPr>
          <p:cNvPr id="11" name="Text 6"/>
          <p:cNvSpPr/>
          <p:nvPr/>
        </p:nvSpPr>
        <p:spPr>
          <a:xfrm>
            <a:off x="9305990" y="3003649"/>
            <a:ext cx="2224230"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Translate raw heterogeneous data into actionable, sustainable solutions for farmers and city planners.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574403"/>
            <a:ext cx="6296860" cy="944959"/>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F3F3F2"/>
                </a:solidFill>
                <a:latin typeface="IBM Plex Sans Medium" pitchFamily="34" charset="0"/>
                <a:ea typeface="IBM Plex Sans Medium" pitchFamily="34" charset="-122"/>
                <a:cs typeface="IBM Plex Sans Medium" pitchFamily="34" charset="-120"/>
              </a:rPr>
              <a:t>Agriculture: The Food Security Challenge</a:t>
            </a:r>
            <a:endParaRPr lang="en-US" sz="2950" dirty="0"/>
          </a:p>
        </p:txBody>
      </p:sp>
      <p:sp>
        <p:nvSpPr>
          <p:cNvPr id="4" name="Text 1"/>
          <p:cNvSpPr/>
          <p:nvPr/>
        </p:nvSpPr>
        <p:spPr>
          <a:xfrm>
            <a:off x="661475" y="2802830"/>
            <a:ext cx="6296860"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Problem: Traditional farming in India faces increasing volatility from climate variability, changing rainfall patterns, and soil degradation. Stakeholders—smallholder farmers—need predictive insights that are accessible, reliable, and actionable to protect yields and livelihoods.</a:t>
            </a:r>
            <a:endParaRPr lang="en-US" sz="1450" dirty="0"/>
          </a:p>
        </p:txBody>
      </p:sp>
      <p:sp>
        <p:nvSpPr>
          <p:cNvPr id="5" name="Shape 2"/>
          <p:cNvSpPr/>
          <p:nvPr/>
        </p:nvSpPr>
        <p:spPr>
          <a:xfrm>
            <a:off x="661475" y="4225131"/>
            <a:ext cx="6296860" cy="1058366"/>
          </a:xfrm>
          <a:prstGeom prst="roundRect">
            <a:avLst>
              <a:gd name="adj" fmla="val 2679"/>
            </a:avLst>
          </a:prstGeom>
          <a:solidFill>
            <a:srgbClr val="803300"/>
          </a:solidFill>
          <a:ln/>
        </p:spPr>
      </p:sp>
      <p:pic>
        <p:nvPicPr>
          <p:cNvPr id="6" name="Image 1" descr="preencoded.png"/>
          <p:cNvPicPr>
            <a:picLocks noChangeAspect="1"/>
          </p:cNvPicPr>
          <p:nvPr/>
        </p:nvPicPr>
        <p:blipFill>
          <a:blip r:embed="rId4"/>
          <a:stretch>
            <a:fillRect/>
          </a:stretch>
        </p:blipFill>
        <p:spPr>
          <a:xfrm>
            <a:off x="850482" y="4492823"/>
            <a:ext cx="236234" cy="189012"/>
          </a:xfrm>
          <a:prstGeom prst="rect">
            <a:avLst/>
          </a:prstGeom>
        </p:spPr>
      </p:pic>
      <p:sp>
        <p:nvSpPr>
          <p:cNvPr id="7" name="Text 3"/>
          <p:cNvSpPr/>
          <p:nvPr/>
        </p:nvSpPr>
        <p:spPr>
          <a:xfrm>
            <a:off x="1275723" y="4461371"/>
            <a:ext cx="549360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Roboto" pitchFamily="34" charset="0"/>
                <a:ea typeface="Roboto" pitchFamily="34" charset="-122"/>
                <a:cs typeface="Roboto" pitchFamily="34" charset="-120"/>
              </a:rPr>
              <a:t>Design emphasis: models must be robust to sparse records and deliver interpretable recommendations for field-level decisions.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801092"/>
            <a:ext cx="4657112" cy="2639020"/>
          </a:xfrm>
          <a:prstGeom prst="rect">
            <a:avLst/>
          </a:prstGeom>
        </p:spPr>
      </p:pic>
      <p:sp>
        <p:nvSpPr>
          <p:cNvPr id="3" name="Text 0"/>
          <p:cNvSpPr/>
          <p:nvPr/>
        </p:nvSpPr>
        <p:spPr>
          <a:xfrm>
            <a:off x="5749980" y="1428750"/>
            <a:ext cx="5786491" cy="435670"/>
          </a:xfrm>
          <a:prstGeom prst="rect">
            <a:avLst/>
          </a:prstGeom>
          <a:noFill/>
          <a:ln/>
        </p:spPr>
        <p:txBody>
          <a:bodyPr wrap="none" lIns="0" tIns="0" rIns="0" bIns="0" rtlCol="0" anchor="t"/>
          <a:lstStyle/>
          <a:p>
            <a:pPr marL="0" indent="0" algn="l">
              <a:lnSpc>
                <a:spcPct val="104000"/>
              </a:lnSpc>
              <a:buNone/>
            </a:pPr>
            <a:r>
              <a:rPr lang="en-US" sz="2700" dirty="0">
                <a:solidFill>
                  <a:srgbClr val="F3F3F2"/>
                </a:solidFill>
                <a:latin typeface="IBM Plex Sans Medium" pitchFamily="34" charset="0"/>
                <a:ea typeface="IBM Plex Sans Medium" pitchFamily="34" charset="-122"/>
                <a:cs typeface="IBM Plex Sans Medium" pitchFamily="34" charset="-120"/>
              </a:rPr>
              <a:t>Agricultural Data &amp; Preprocessing</a:t>
            </a:r>
            <a:endParaRPr lang="en-US" sz="2700" dirty="0"/>
          </a:p>
        </p:txBody>
      </p:sp>
      <p:sp>
        <p:nvSpPr>
          <p:cNvPr id="4" name="Text 1"/>
          <p:cNvSpPr/>
          <p:nvPr/>
        </p:nvSpPr>
        <p:spPr>
          <a:xfrm>
            <a:off x="5749980" y="2025055"/>
            <a:ext cx="5786491" cy="803374"/>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D4D4D1"/>
                </a:solidFill>
                <a:latin typeface="Roboto" pitchFamily="34" charset="0"/>
                <a:ea typeface="Roboto" pitchFamily="34" charset="-122"/>
                <a:cs typeface="Roboto" pitchFamily="34" charset="-120"/>
              </a:rPr>
              <a:t>Sources: GKVK and DES databases — multi-year records of temperature, rainfall, soil pH, soil moisture, and administrative labels (State, Season, Crop).</a:t>
            </a:r>
            <a:endParaRPr lang="en-US" sz="1350" dirty="0"/>
          </a:p>
        </p:txBody>
      </p:sp>
      <p:sp>
        <p:nvSpPr>
          <p:cNvPr id="5" name="Shape 2"/>
          <p:cNvSpPr/>
          <p:nvPr/>
        </p:nvSpPr>
        <p:spPr>
          <a:xfrm>
            <a:off x="661475" y="3801467"/>
            <a:ext cx="3515828" cy="2436019"/>
          </a:xfrm>
          <a:prstGeom prst="roundRect">
            <a:avLst>
              <a:gd name="adj" fmla="val 1073"/>
            </a:avLst>
          </a:prstGeom>
          <a:solidFill>
            <a:srgbClr val="484B51"/>
          </a:solidFill>
          <a:ln/>
        </p:spPr>
      </p:sp>
      <p:sp>
        <p:nvSpPr>
          <p:cNvPr id="6" name="Text 3"/>
          <p:cNvSpPr/>
          <p:nvPr/>
        </p:nvSpPr>
        <p:spPr>
          <a:xfrm>
            <a:off x="835699" y="3975695"/>
            <a:ext cx="3167380" cy="272157"/>
          </a:xfrm>
          <a:prstGeom prst="rect">
            <a:avLst/>
          </a:prstGeom>
          <a:noFill/>
          <a:ln/>
        </p:spPr>
        <p:txBody>
          <a:bodyPr wrap="none" lIns="0" tIns="0" rIns="0" bIns="0" rtlCol="0" anchor="t"/>
          <a:lstStyle/>
          <a:p>
            <a:pPr marL="0" indent="0" algn="l">
              <a:lnSpc>
                <a:spcPct val="104000"/>
              </a:lnSpc>
              <a:buNone/>
            </a:pPr>
            <a:r>
              <a:rPr lang="en-US" sz="1700" dirty="0">
                <a:solidFill>
                  <a:srgbClr val="D4D4D1"/>
                </a:solidFill>
                <a:latin typeface="IBM Plex Sans Medium" pitchFamily="34" charset="0"/>
                <a:ea typeface="IBM Plex Sans Medium" pitchFamily="34" charset="-122"/>
                <a:cs typeface="IBM Plex Sans Medium" pitchFamily="34" charset="-120"/>
              </a:rPr>
              <a:t>Challenges</a:t>
            </a:r>
            <a:endParaRPr lang="en-US" sz="1700" dirty="0"/>
          </a:p>
        </p:txBody>
      </p:sp>
      <p:sp>
        <p:nvSpPr>
          <p:cNvPr id="7" name="Text 4"/>
          <p:cNvSpPr/>
          <p:nvPr/>
        </p:nvSpPr>
        <p:spPr>
          <a:xfrm>
            <a:off x="835699" y="4344194"/>
            <a:ext cx="3167380" cy="535583"/>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D4D4D1"/>
                </a:solidFill>
                <a:latin typeface="Roboto" pitchFamily="34" charset="0"/>
                <a:ea typeface="Roboto" pitchFamily="34" charset="-122"/>
                <a:cs typeface="Roboto" pitchFamily="34" charset="-120"/>
              </a:rPr>
              <a:t>Missing months, inconsistent sampling rates, and mixed categorical encodings.</a:t>
            </a:r>
            <a:endParaRPr lang="en-US" sz="1350" dirty="0"/>
          </a:p>
        </p:txBody>
      </p:sp>
      <p:sp>
        <p:nvSpPr>
          <p:cNvPr id="8" name="Shape 5"/>
          <p:cNvSpPr/>
          <p:nvPr/>
        </p:nvSpPr>
        <p:spPr>
          <a:xfrm>
            <a:off x="4337934" y="3801467"/>
            <a:ext cx="3515828" cy="2436019"/>
          </a:xfrm>
          <a:prstGeom prst="roundRect">
            <a:avLst>
              <a:gd name="adj" fmla="val 1073"/>
            </a:avLst>
          </a:prstGeom>
          <a:solidFill>
            <a:srgbClr val="484B51"/>
          </a:solidFill>
          <a:ln/>
        </p:spPr>
      </p:sp>
      <p:sp>
        <p:nvSpPr>
          <p:cNvPr id="9" name="Text 6"/>
          <p:cNvSpPr/>
          <p:nvPr/>
        </p:nvSpPr>
        <p:spPr>
          <a:xfrm>
            <a:off x="4512157" y="3975695"/>
            <a:ext cx="3167380" cy="272157"/>
          </a:xfrm>
          <a:prstGeom prst="rect">
            <a:avLst/>
          </a:prstGeom>
          <a:noFill/>
          <a:ln/>
        </p:spPr>
        <p:txBody>
          <a:bodyPr wrap="none" lIns="0" tIns="0" rIns="0" bIns="0" rtlCol="0" anchor="t"/>
          <a:lstStyle/>
          <a:p>
            <a:pPr marL="0" indent="0" algn="l">
              <a:lnSpc>
                <a:spcPct val="104000"/>
              </a:lnSpc>
              <a:buNone/>
            </a:pPr>
            <a:r>
              <a:rPr lang="en-US" sz="1700" dirty="0">
                <a:solidFill>
                  <a:srgbClr val="D4D4D1"/>
                </a:solidFill>
                <a:latin typeface="IBM Plex Sans Medium" pitchFamily="34" charset="0"/>
                <a:ea typeface="IBM Plex Sans Medium" pitchFamily="34" charset="-122"/>
                <a:cs typeface="IBM Plex Sans Medium" pitchFamily="34" charset="-120"/>
              </a:rPr>
              <a:t>Preprocessing Steps</a:t>
            </a:r>
            <a:endParaRPr lang="en-US" sz="1700" dirty="0"/>
          </a:p>
        </p:txBody>
      </p:sp>
      <p:sp>
        <p:nvSpPr>
          <p:cNvPr id="10" name="Text 7"/>
          <p:cNvSpPr/>
          <p:nvPr/>
        </p:nvSpPr>
        <p:spPr>
          <a:xfrm>
            <a:off x="4512157" y="4344194"/>
            <a:ext cx="3167380" cy="1719064"/>
          </a:xfrm>
          <a:prstGeom prst="rect">
            <a:avLst/>
          </a:prstGeom>
          <a:noFill/>
          <a:ln/>
        </p:spPr>
        <p:txBody>
          <a:bodyPr wrap="square" lIns="0" tIns="69700" rIns="0" bIns="0" rtlCol="0" anchor="t">
            <a:normAutofit/>
          </a:bodyPr>
          <a:lstStyle/>
          <a:p>
            <a:pPr marL="274320" indent="-274320" algn="l">
              <a:lnSpc>
                <a:spcPct val="128000"/>
              </a:lnSpc>
              <a:buSzPct val="100000"/>
              <a:buChar char="•"/>
            </a:pPr>
            <a:r>
              <a:rPr lang="en-US" sz="1350" dirty="0">
                <a:solidFill>
                  <a:srgbClr val="D4D4D1"/>
                </a:solidFill>
                <a:latin typeface="Roboto" pitchFamily="34" charset="0"/>
                <a:ea typeface="Roboto" pitchFamily="34" charset="-122"/>
                <a:cs typeface="Roboto" pitchFamily="34" charset="-120"/>
              </a:rPr>
              <a:t>Impute missing values with seasonal medians and KNN where appropriate</a:t>
            </a:r>
            <a:endParaRPr lang="en-US" sz="1350" dirty="0"/>
          </a:p>
          <a:p>
            <a:pPr marL="274320" indent="-274320" algn="l">
              <a:lnSpc>
                <a:spcPct val="128000"/>
              </a:lnSpc>
              <a:buSzPct val="100000"/>
              <a:buChar char="•"/>
            </a:pPr>
            <a:r>
              <a:rPr lang="en-US" sz="1350" dirty="0">
                <a:solidFill>
                  <a:srgbClr val="D4D4D1"/>
                </a:solidFill>
                <a:latin typeface="Roboto" pitchFamily="34" charset="0"/>
                <a:ea typeface="Roboto" pitchFamily="34" charset="-122"/>
                <a:cs typeface="Roboto" pitchFamily="34" charset="-120"/>
              </a:rPr>
              <a:t>Detect &amp; remove measurement outliers (rolling z-score)</a:t>
            </a:r>
            <a:endParaRPr lang="en-US" sz="1350" dirty="0"/>
          </a:p>
          <a:p>
            <a:pPr marL="274320" indent="-274320" algn="l">
              <a:lnSpc>
                <a:spcPct val="128000"/>
              </a:lnSpc>
              <a:buSzPct val="100000"/>
              <a:buChar char="•"/>
            </a:pPr>
            <a:r>
              <a:rPr lang="en-US" sz="1350" dirty="0">
                <a:solidFill>
                  <a:srgbClr val="D4D4D1"/>
                </a:solidFill>
                <a:latin typeface="Roboto" pitchFamily="34" charset="0"/>
                <a:ea typeface="Roboto" pitchFamily="34" charset="-122"/>
                <a:cs typeface="Roboto" pitchFamily="34" charset="-120"/>
              </a:rPr>
              <a:t>Encode State/Season/Crop using ordinal + target encoding</a:t>
            </a:r>
            <a:endParaRPr lang="en-US" sz="1350" dirty="0"/>
          </a:p>
        </p:txBody>
      </p:sp>
      <p:sp>
        <p:nvSpPr>
          <p:cNvPr id="11" name="Shape 8"/>
          <p:cNvSpPr/>
          <p:nvPr/>
        </p:nvSpPr>
        <p:spPr>
          <a:xfrm>
            <a:off x="8014392" y="3801467"/>
            <a:ext cx="3515828" cy="2436019"/>
          </a:xfrm>
          <a:prstGeom prst="roundRect">
            <a:avLst>
              <a:gd name="adj" fmla="val 1073"/>
            </a:avLst>
          </a:prstGeom>
          <a:solidFill>
            <a:srgbClr val="484B51"/>
          </a:solidFill>
          <a:ln/>
        </p:spPr>
      </p:sp>
      <p:sp>
        <p:nvSpPr>
          <p:cNvPr id="12" name="Text 9"/>
          <p:cNvSpPr/>
          <p:nvPr/>
        </p:nvSpPr>
        <p:spPr>
          <a:xfrm>
            <a:off x="8188616" y="3975695"/>
            <a:ext cx="3167380" cy="272157"/>
          </a:xfrm>
          <a:prstGeom prst="rect">
            <a:avLst/>
          </a:prstGeom>
          <a:noFill/>
          <a:ln/>
        </p:spPr>
        <p:txBody>
          <a:bodyPr wrap="none" lIns="0" tIns="0" rIns="0" bIns="0" rtlCol="0" anchor="t"/>
          <a:lstStyle/>
          <a:p>
            <a:pPr marL="0" indent="0" algn="l">
              <a:lnSpc>
                <a:spcPct val="104000"/>
              </a:lnSpc>
              <a:buNone/>
            </a:pPr>
            <a:r>
              <a:rPr lang="en-US" sz="1700" dirty="0">
                <a:solidFill>
                  <a:srgbClr val="D4D4D1"/>
                </a:solidFill>
                <a:latin typeface="IBM Plex Sans Medium" pitchFamily="34" charset="0"/>
                <a:ea typeface="IBM Plex Sans Medium" pitchFamily="34" charset="-122"/>
                <a:cs typeface="IBM Plex Sans Medium" pitchFamily="34" charset="-120"/>
              </a:rPr>
              <a:t>Data Ops</a:t>
            </a:r>
            <a:endParaRPr lang="en-US" sz="1700" dirty="0"/>
          </a:p>
        </p:txBody>
      </p:sp>
      <p:sp>
        <p:nvSpPr>
          <p:cNvPr id="13" name="Text 10"/>
          <p:cNvSpPr/>
          <p:nvPr/>
        </p:nvSpPr>
        <p:spPr>
          <a:xfrm>
            <a:off x="8188616" y="4344194"/>
            <a:ext cx="3167380" cy="535583"/>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D4D4D1"/>
                </a:solidFill>
                <a:latin typeface="Roboto" pitchFamily="34" charset="0"/>
                <a:ea typeface="Roboto" pitchFamily="34" charset="-122"/>
                <a:cs typeface="Roboto" pitchFamily="34" charset="-120"/>
              </a:rPr>
              <a:t>Pipelineed in Pandas → parquet; versioned snapshots for reproducibility.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622995"/>
            <a:ext cx="6296860" cy="457696"/>
          </a:xfrm>
          <a:prstGeom prst="rect">
            <a:avLst/>
          </a:prstGeom>
          <a:noFill/>
          <a:ln/>
        </p:spPr>
        <p:txBody>
          <a:bodyPr wrap="none" lIns="0" tIns="0" rIns="0" bIns="0" rtlCol="0" anchor="t"/>
          <a:lstStyle/>
          <a:p>
            <a:pPr marL="0" indent="0" algn="l">
              <a:lnSpc>
                <a:spcPct val="104000"/>
              </a:lnSpc>
              <a:buNone/>
            </a:pPr>
            <a:r>
              <a:rPr lang="en-US" sz="2850" dirty="0">
                <a:solidFill>
                  <a:srgbClr val="F3F3F2"/>
                </a:solidFill>
                <a:latin typeface="IBM Plex Sans Medium" pitchFamily="34" charset="0"/>
                <a:ea typeface="IBM Plex Sans Medium" pitchFamily="34" charset="-122"/>
                <a:cs typeface="IBM Plex Sans Medium" pitchFamily="34" charset="-120"/>
              </a:rPr>
              <a:t>Agri — EDA &amp; ML Plan</a:t>
            </a:r>
            <a:endParaRPr lang="en-US" sz="2850" dirty="0"/>
          </a:p>
        </p:txBody>
      </p:sp>
      <p:sp>
        <p:nvSpPr>
          <p:cNvPr id="4" name="Text 1"/>
          <p:cNvSpPr/>
          <p:nvPr/>
        </p:nvSpPr>
        <p:spPr>
          <a:xfrm>
            <a:off x="661475" y="1346696"/>
            <a:ext cx="6296860" cy="865287"/>
          </a:xfrm>
          <a:prstGeom prst="rect">
            <a:avLst/>
          </a:prstGeom>
          <a:noFill/>
          <a:ln/>
        </p:spPr>
        <p:txBody>
          <a:bodyPr wrap="square" lIns="0" tIns="0" rIns="0" bIns="0" rtlCol="0" anchor="t">
            <a:normAutofit/>
          </a:bodyPr>
          <a:lstStyle/>
          <a:p>
            <a:pPr marL="0" indent="0" algn="l">
              <a:lnSpc>
                <a:spcPct val="131000"/>
              </a:lnSpc>
              <a:buNone/>
            </a:pPr>
            <a:r>
              <a:rPr lang="en-US" sz="1400" dirty="0">
                <a:solidFill>
                  <a:srgbClr val="D4D4D1"/>
                </a:solidFill>
                <a:latin typeface="Roboto" pitchFamily="34" charset="0"/>
                <a:ea typeface="Roboto" pitchFamily="34" charset="-122"/>
                <a:cs typeface="Roboto" pitchFamily="34" charset="-120"/>
              </a:rPr>
              <a:t>EDA revealed key drivers: cumulative sunlight, soil pH bands, and sustained humidity windows correlate strongly with yield variance. Spatial heterogeneity across states requires localized models or state-aware features.</a:t>
            </a:r>
            <a:endParaRPr lang="en-US" sz="1400" dirty="0"/>
          </a:p>
        </p:txBody>
      </p:sp>
      <p:sp>
        <p:nvSpPr>
          <p:cNvPr id="5" name="Text 2"/>
          <p:cNvSpPr/>
          <p:nvPr/>
        </p:nvSpPr>
        <p:spPr>
          <a:xfrm>
            <a:off x="661475" y="2411512"/>
            <a:ext cx="366207" cy="228798"/>
          </a:xfrm>
          <a:prstGeom prst="rect">
            <a:avLst/>
          </a:prstGeom>
          <a:noFill/>
          <a:ln/>
        </p:spPr>
        <p:txBody>
          <a:bodyPr wrap="none" lIns="0" tIns="0" rIns="0" bIns="0" rtlCol="0" anchor="ctr"/>
          <a:lstStyle/>
          <a:p>
            <a:pPr marL="0" indent="0" algn="l">
              <a:lnSpc>
                <a:spcPct val="100000"/>
              </a:lnSpc>
              <a:buNone/>
            </a:pPr>
            <a:r>
              <a:rPr lang="en-US" sz="1400" dirty="0">
                <a:solidFill>
                  <a:srgbClr val="D4D4D1"/>
                </a:solidFill>
                <a:latin typeface="IBM Plex Sans Light" pitchFamily="34" charset="0"/>
                <a:ea typeface="IBM Plex Sans Light" pitchFamily="34" charset="-122"/>
                <a:cs typeface="IBM Plex Sans Light" pitchFamily="34" charset="-120"/>
              </a:rPr>
              <a:t>01</a:t>
            </a:r>
            <a:endParaRPr lang="en-US" sz="1400" dirty="0"/>
          </a:p>
        </p:txBody>
      </p:sp>
      <p:sp>
        <p:nvSpPr>
          <p:cNvPr id="6" name="Shape 3"/>
          <p:cNvSpPr/>
          <p:nvPr/>
        </p:nvSpPr>
        <p:spPr>
          <a:xfrm>
            <a:off x="661475" y="2697262"/>
            <a:ext cx="3059730" cy="25400"/>
          </a:xfrm>
          <a:prstGeom prst="rect">
            <a:avLst/>
          </a:prstGeom>
          <a:solidFill>
            <a:srgbClr val="FFBC8F"/>
          </a:solidFill>
          <a:ln/>
        </p:spPr>
      </p:sp>
      <p:sp>
        <p:nvSpPr>
          <p:cNvPr id="7" name="Text 4"/>
          <p:cNvSpPr/>
          <p:nvPr/>
        </p:nvSpPr>
        <p:spPr>
          <a:xfrm>
            <a:off x="661475" y="2839541"/>
            <a:ext cx="3059730" cy="286048"/>
          </a:xfrm>
          <a:prstGeom prst="rect">
            <a:avLst/>
          </a:prstGeom>
          <a:noFill/>
          <a:ln/>
        </p:spPr>
        <p:txBody>
          <a:bodyPr wrap="none" lIns="0" tIns="0" rIns="0" bIns="0" rtlCol="0" anchor="t"/>
          <a:lstStyle/>
          <a:p>
            <a:pPr marL="0" indent="0" algn="l">
              <a:lnSpc>
                <a:spcPct val="104000"/>
              </a:lnSpc>
              <a:buNone/>
            </a:pPr>
            <a:r>
              <a:rPr lang="en-US" sz="1800" dirty="0">
                <a:solidFill>
                  <a:srgbClr val="D4D4D1"/>
                </a:solidFill>
                <a:latin typeface="IBM Plex Sans Medium" pitchFamily="34" charset="0"/>
                <a:ea typeface="IBM Plex Sans Medium" pitchFamily="34" charset="-122"/>
                <a:cs typeface="IBM Plex Sans Medium" pitchFamily="34" charset="-120"/>
              </a:rPr>
              <a:t>Baseline</a:t>
            </a:r>
            <a:endParaRPr lang="en-US" sz="1800" dirty="0"/>
          </a:p>
        </p:txBody>
      </p:sp>
      <p:sp>
        <p:nvSpPr>
          <p:cNvPr id="8" name="Text 5"/>
          <p:cNvSpPr/>
          <p:nvPr/>
        </p:nvSpPr>
        <p:spPr>
          <a:xfrm>
            <a:off x="661475" y="3231952"/>
            <a:ext cx="3059730" cy="865287"/>
          </a:xfrm>
          <a:prstGeom prst="rect">
            <a:avLst/>
          </a:prstGeom>
          <a:noFill/>
          <a:ln/>
        </p:spPr>
        <p:txBody>
          <a:bodyPr wrap="square" lIns="0" tIns="0" rIns="0" bIns="0" rtlCol="0" anchor="t">
            <a:normAutofit/>
          </a:bodyPr>
          <a:lstStyle/>
          <a:p>
            <a:pPr marL="0" indent="0" algn="l">
              <a:lnSpc>
                <a:spcPct val="131000"/>
              </a:lnSpc>
              <a:buNone/>
            </a:pPr>
            <a:r>
              <a:rPr lang="en-US" sz="1400" dirty="0">
                <a:solidFill>
                  <a:srgbClr val="D4D4D1"/>
                </a:solidFill>
                <a:latin typeface="Roboto" pitchFamily="34" charset="0"/>
                <a:ea typeface="Roboto" pitchFamily="34" charset="-122"/>
                <a:cs typeface="Roboto" pitchFamily="34" charset="-120"/>
              </a:rPr>
              <a:t>Linear and ridge regression (scikit-learn) to set performance floor and analyze residuals.</a:t>
            </a:r>
            <a:endParaRPr lang="en-US" sz="1400" dirty="0"/>
          </a:p>
        </p:txBody>
      </p:sp>
      <p:sp>
        <p:nvSpPr>
          <p:cNvPr id="9" name="Text 6"/>
          <p:cNvSpPr/>
          <p:nvPr/>
        </p:nvSpPr>
        <p:spPr>
          <a:xfrm>
            <a:off x="3898505" y="2411512"/>
            <a:ext cx="366207" cy="228798"/>
          </a:xfrm>
          <a:prstGeom prst="rect">
            <a:avLst/>
          </a:prstGeom>
          <a:noFill/>
          <a:ln/>
        </p:spPr>
        <p:txBody>
          <a:bodyPr wrap="none" lIns="0" tIns="0" rIns="0" bIns="0" rtlCol="0" anchor="ctr"/>
          <a:lstStyle/>
          <a:p>
            <a:pPr marL="0" indent="0" algn="l">
              <a:lnSpc>
                <a:spcPct val="100000"/>
              </a:lnSpc>
              <a:buNone/>
            </a:pPr>
            <a:r>
              <a:rPr lang="en-US" sz="1400" dirty="0">
                <a:solidFill>
                  <a:srgbClr val="D4D4D1"/>
                </a:solidFill>
                <a:latin typeface="IBM Plex Sans Light" pitchFamily="34" charset="0"/>
                <a:ea typeface="IBM Plex Sans Light" pitchFamily="34" charset="-122"/>
                <a:cs typeface="IBM Plex Sans Light" pitchFamily="34" charset="-120"/>
              </a:rPr>
              <a:t>02</a:t>
            </a:r>
            <a:endParaRPr lang="en-US" sz="1400" dirty="0"/>
          </a:p>
        </p:txBody>
      </p:sp>
      <p:sp>
        <p:nvSpPr>
          <p:cNvPr id="10" name="Shape 7"/>
          <p:cNvSpPr/>
          <p:nvPr/>
        </p:nvSpPr>
        <p:spPr>
          <a:xfrm>
            <a:off x="3898505" y="2697262"/>
            <a:ext cx="3059830" cy="25400"/>
          </a:xfrm>
          <a:prstGeom prst="rect">
            <a:avLst/>
          </a:prstGeom>
          <a:solidFill>
            <a:srgbClr val="FFBC8F"/>
          </a:solidFill>
          <a:ln/>
        </p:spPr>
      </p:sp>
      <p:sp>
        <p:nvSpPr>
          <p:cNvPr id="11" name="Text 8"/>
          <p:cNvSpPr/>
          <p:nvPr/>
        </p:nvSpPr>
        <p:spPr>
          <a:xfrm>
            <a:off x="3898505" y="2839541"/>
            <a:ext cx="3059830" cy="286048"/>
          </a:xfrm>
          <a:prstGeom prst="rect">
            <a:avLst/>
          </a:prstGeom>
          <a:noFill/>
          <a:ln/>
        </p:spPr>
        <p:txBody>
          <a:bodyPr wrap="none" lIns="0" tIns="0" rIns="0" bIns="0" rtlCol="0" anchor="t"/>
          <a:lstStyle/>
          <a:p>
            <a:pPr marL="0" indent="0" algn="l">
              <a:lnSpc>
                <a:spcPct val="104000"/>
              </a:lnSpc>
              <a:buNone/>
            </a:pPr>
            <a:r>
              <a:rPr lang="en-US" sz="1800" dirty="0">
                <a:solidFill>
                  <a:srgbClr val="D4D4D1"/>
                </a:solidFill>
                <a:latin typeface="IBM Plex Sans Medium" pitchFamily="34" charset="0"/>
                <a:ea typeface="IBM Plex Sans Medium" pitchFamily="34" charset="-122"/>
                <a:cs typeface="IBM Plex Sans Medium" pitchFamily="34" charset="-120"/>
              </a:rPr>
              <a:t>Advanced Models</a:t>
            </a:r>
            <a:endParaRPr lang="en-US" sz="1800" dirty="0"/>
          </a:p>
        </p:txBody>
      </p:sp>
      <p:sp>
        <p:nvSpPr>
          <p:cNvPr id="12" name="Text 9"/>
          <p:cNvSpPr/>
          <p:nvPr/>
        </p:nvSpPr>
        <p:spPr>
          <a:xfrm>
            <a:off x="3898505" y="3231952"/>
            <a:ext cx="3059830" cy="1153716"/>
          </a:xfrm>
          <a:prstGeom prst="rect">
            <a:avLst/>
          </a:prstGeom>
          <a:noFill/>
          <a:ln/>
        </p:spPr>
        <p:txBody>
          <a:bodyPr wrap="square" lIns="0" tIns="0" rIns="0" bIns="0" rtlCol="0" anchor="t">
            <a:normAutofit/>
          </a:bodyPr>
          <a:lstStyle/>
          <a:p>
            <a:pPr marL="0" indent="0" algn="l">
              <a:lnSpc>
                <a:spcPct val="131000"/>
              </a:lnSpc>
              <a:buNone/>
            </a:pPr>
            <a:r>
              <a:rPr lang="en-US" sz="1400" dirty="0">
                <a:solidFill>
                  <a:srgbClr val="D4D4D1"/>
                </a:solidFill>
                <a:latin typeface="Roboto" pitchFamily="34" charset="0"/>
                <a:ea typeface="Roboto" pitchFamily="34" charset="-122"/>
                <a:cs typeface="Roboto" pitchFamily="34" charset="-120"/>
              </a:rPr>
              <a:t>Random Forest and Gradient Boosting to capture non-linear feature interactions and heteroskedasticity.</a:t>
            </a:r>
            <a:endParaRPr lang="en-US" sz="1400" dirty="0"/>
          </a:p>
        </p:txBody>
      </p:sp>
      <p:sp>
        <p:nvSpPr>
          <p:cNvPr id="13" name="Text 10"/>
          <p:cNvSpPr/>
          <p:nvPr/>
        </p:nvSpPr>
        <p:spPr>
          <a:xfrm>
            <a:off x="661475" y="4700290"/>
            <a:ext cx="366207" cy="228798"/>
          </a:xfrm>
          <a:prstGeom prst="rect">
            <a:avLst/>
          </a:prstGeom>
          <a:noFill/>
          <a:ln/>
        </p:spPr>
        <p:txBody>
          <a:bodyPr wrap="none" lIns="0" tIns="0" rIns="0" bIns="0" rtlCol="0" anchor="ctr"/>
          <a:lstStyle/>
          <a:p>
            <a:pPr marL="0" indent="0" algn="l">
              <a:lnSpc>
                <a:spcPct val="100000"/>
              </a:lnSpc>
              <a:buNone/>
            </a:pPr>
            <a:r>
              <a:rPr lang="en-US" sz="1400" dirty="0">
                <a:solidFill>
                  <a:srgbClr val="D4D4D1"/>
                </a:solidFill>
                <a:latin typeface="IBM Plex Sans Light" pitchFamily="34" charset="0"/>
                <a:ea typeface="IBM Plex Sans Light" pitchFamily="34" charset="-122"/>
                <a:cs typeface="IBM Plex Sans Light" pitchFamily="34" charset="-120"/>
              </a:rPr>
              <a:t>03</a:t>
            </a:r>
            <a:endParaRPr lang="en-US" sz="1400" dirty="0"/>
          </a:p>
        </p:txBody>
      </p:sp>
      <p:sp>
        <p:nvSpPr>
          <p:cNvPr id="14" name="Shape 11"/>
          <p:cNvSpPr/>
          <p:nvPr/>
        </p:nvSpPr>
        <p:spPr>
          <a:xfrm>
            <a:off x="661475" y="4986040"/>
            <a:ext cx="6296860" cy="25400"/>
          </a:xfrm>
          <a:prstGeom prst="rect">
            <a:avLst/>
          </a:prstGeom>
          <a:solidFill>
            <a:srgbClr val="FFBC8F"/>
          </a:solidFill>
          <a:ln/>
        </p:spPr>
      </p:sp>
      <p:sp>
        <p:nvSpPr>
          <p:cNvPr id="15" name="Text 12"/>
          <p:cNvSpPr/>
          <p:nvPr/>
        </p:nvSpPr>
        <p:spPr>
          <a:xfrm>
            <a:off x="661475" y="5128320"/>
            <a:ext cx="6296860" cy="286048"/>
          </a:xfrm>
          <a:prstGeom prst="rect">
            <a:avLst/>
          </a:prstGeom>
          <a:noFill/>
          <a:ln/>
        </p:spPr>
        <p:txBody>
          <a:bodyPr wrap="none" lIns="0" tIns="0" rIns="0" bIns="0" rtlCol="0" anchor="t"/>
          <a:lstStyle/>
          <a:p>
            <a:pPr marL="0" indent="0" algn="l">
              <a:lnSpc>
                <a:spcPct val="104000"/>
              </a:lnSpc>
              <a:buNone/>
            </a:pPr>
            <a:r>
              <a:rPr lang="en-US" sz="1800" dirty="0">
                <a:solidFill>
                  <a:srgbClr val="D4D4D1"/>
                </a:solidFill>
                <a:latin typeface="IBM Plex Sans Medium" pitchFamily="34" charset="0"/>
                <a:ea typeface="IBM Plex Sans Medium" pitchFamily="34" charset="-122"/>
                <a:cs typeface="IBM Plex Sans Medium" pitchFamily="34" charset="-120"/>
              </a:rPr>
              <a:t>Evaluation</a:t>
            </a:r>
            <a:endParaRPr lang="en-US" sz="1800" dirty="0"/>
          </a:p>
        </p:txBody>
      </p:sp>
      <p:sp>
        <p:nvSpPr>
          <p:cNvPr id="16" name="Text 13"/>
          <p:cNvSpPr/>
          <p:nvPr/>
        </p:nvSpPr>
        <p:spPr>
          <a:xfrm>
            <a:off x="661475" y="5520730"/>
            <a:ext cx="6296860" cy="576858"/>
          </a:xfrm>
          <a:prstGeom prst="rect">
            <a:avLst/>
          </a:prstGeom>
          <a:noFill/>
          <a:ln/>
        </p:spPr>
        <p:txBody>
          <a:bodyPr wrap="square" lIns="0" tIns="0" rIns="0" bIns="0" rtlCol="0" anchor="t">
            <a:normAutofit/>
          </a:bodyPr>
          <a:lstStyle/>
          <a:p>
            <a:pPr marL="0" indent="0" algn="l">
              <a:lnSpc>
                <a:spcPct val="131000"/>
              </a:lnSpc>
              <a:buNone/>
            </a:pPr>
            <a:r>
              <a:rPr lang="en-US" sz="1400" dirty="0">
                <a:solidFill>
                  <a:srgbClr val="D4D4D1"/>
                </a:solidFill>
                <a:latin typeface="Roboto" pitchFamily="34" charset="0"/>
                <a:ea typeface="Roboto" pitchFamily="34" charset="-122"/>
                <a:cs typeface="Roboto" pitchFamily="34" charset="-120"/>
              </a:rPr>
              <a:t>Time-aware CV, MAE &amp; RMSE reporting, SHAP for model interpretability at crop-state level.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810643"/>
            <a:ext cx="6296860" cy="472480"/>
          </a:xfrm>
          <a:prstGeom prst="rect">
            <a:avLst/>
          </a:prstGeom>
          <a:noFill/>
          <a:ln/>
        </p:spPr>
        <p:txBody>
          <a:bodyPr wrap="none" lIns="0" tIns="0" rIns="0" bIns="0" rtlCol="0" anchor="t"/>
          <a:lstStyle/>
          <a:p>
            <a:pPr marL="0" indent="0" algn="l">
              <a:lnSpc>
                <a:spcPct val="104000"/>
              </a:lnSpc>
              <a:buNone/>
            </a:pPr>
            <a:r>
              <a:rPr lang="en-US" sz="2950" dirty="0">
                <a:solidFill>
                  <a:srgbClr val="F3F3F2"/>
                </a:solidFill>
                <a:latin typeface="IBM Plex Sans Medium" pitchFamily="34" charset="0"/>
                <a:ea typeface="IBM Plex Sans Medium" pitchFamily="34" charset="-122"/>
                <a:cs typeface="IBM Plex Sans Medium" pitchFamily="34" charset="-120"/>
              </a:rPr>
              <a:t>Smart City: The Congestion Crisis</a:t>
            </a:r>
            <a:endParaRPr lang="en-US" sz="2950" dirty="0"/>
          </a:p>
        </p:txBody>
      </p:sp>
      <p:sp>
        <p:nvSpPr>
          <p:cNvPr id="4" name="Text 1"/>
          <p:cNvSpPr/>
          <p:nvPr/>
        </p:nvSpPr>
        <p:spPr>
          <a:xfrm>
            <a:off x="661475" y="2566591"/>
            <a:ext cx="6296860"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Problem: Rapid urbanization causes gridlock, higher emissions, and delayed emergency services. Solution: RushSlayer — an integrated AI traffic management platform that forecasts flow and enables dynamic control (lane allocation, signal timing, prioritized corridors).</a:t>
            </a:r>
            <a:endParaRPr lang="en-US" sz="1450" dirty="0"/>
          </a:p>
        </p:txBody>
      </p:sp>
      <p:sp>
        <p:nvSpPr>
          <p:cNvPr id="5" name="Shape 2"/>
          <p:cNvSpPr/>
          <p:nvPr/>
        </p:nvSpPr>
        <p:spPr>
          <a:xfrm>
            <a:off x="661475" y="3988891"/>
            <a:ext cx="6296860" cy="1058366"/>
          </a:xfrm>
          <a:prstGeom prst="roundRect">
            <a:avLst>
              <a:gd name="adj" fmla="val 2679"/>
            </a:avLst>
          </a:prstGeom>
          <a:solidFill>
            <a:srgbClr val="803300"/>
          </a:solidFill>
          <a:ln/>
        </p:spPr>
      </p:sp>
      <p:pic>
        <p:nvPicPr>
          <p:cNvPr id="6" name="Image 1" descr="preencoded.png"/>
          <p:cNvPicPr>
            <a:picLocks noChangeAspect="1"/>
          </p:cNvPicPr>
          <p:nvPr/>
        </p:nvPicPr>
        <p:blipFill>
          <a:blip r:embed="rId4"/>
          <a:stretch>
            <a:fillRect/>
          </a:stretch>
        </p:blipFill>
        <p:spPr>
          <a:xfrm>
            <a:off x="850482" y="4256584"/>
            <a:ext cx="236234" cy="189012"/>
          </a:xfrm>
          <a:prstGeom prst="rect">
            <a:avLst/>
          </a:prstGeom>
        </p:spPr>
      </p:pic>
      <p:sp>
        <p:nvSpPr>
          <p:cNvPr id="7" name="Text 3"/>
          <p:cNvSpPr/>
          <p:nvPr/>
        </p:nvSpPr>
        <p:spPr>
          <a:xfrm>
            <a:off x="1275723" y="4225131"/>
            <a:ext cx="549360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FFFFFF"/>
                </a:solidFill>
                <a:latin typeface="Roboto" pitchFamily="34" charset="0"/>
                <a:ea typeface="Roboto" pitchFamily="34" charset="-122"/>
                <a:cs typeface="Roboto" pitchFamily="34" charset="-120"/>
              </a:rPr>
              <a:t>Priority: low-latency forecasts and privacy-preserving sensor integration for municipal deployment.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824607"/>
            <a:ext cx="5203794" cy="2948880"/>
          </a:xfrm>
          <a:prstGeom prst="rect">
            <a:avLst/>
          </a:prstGeom>
        </p:spPr>
      </p:pic>
      <p:sp>
        <p:nvSpPr>
          <p:cNvPr id="3" name="Text 0"/>
          <p:cNvSpPr/>
          <p:nvPr/>
        </p:nvSpPr>
        <p:spPr>
          <a:xfrm>
            <a:off x="6332776" y="1372890"/>
            <a:ext cx="5203794" cy="472480"/>
          </a:xfrm>
          <a:prstGeom prst="rect">
            <a:avLst/>
          </a:prstGeom>
          <a:noFill/>
          <a:ln/>
        </p:spPr>
        <p:txBody>
          <a:bodyPr wrap="none" lIns="0" tIns="0" rIns="0" bIns="0" rtlCol="0" anchor="t"/>
          <a:lstStyle/>
          <a:p>
            <a:pPr marL="0" indent="0" algn="l">
              <a:lnSpc>
                <a:spcPct val="104000"/>
              </a:lnSpc>
              <a:buNone/>
            </a:pPr>
            <a:r>
              <a:rPr lang="en-US" sz="2950" dirty="0">
                <a:solidFill>
                  <a:srgbClr val="F3F3F2"/>
                </a:solidFill>
                <a:latin typeface="IBM Plex Sans Medium" pitchFamily="34" charset="0"/>
                <a:ea typeface="IBM Plex Sans Medium" pitchFamily="34" charset="-122"/>
                <a:cs typeface="IBM Plex Sans Medium" pitchFamily="34" charset="-120"/>
              </a:rPr>
              <a:t>Traffic Dataset &amp; Cleaning</a:t>
            </a:r>
            <a:endParaRPr lang="en-US" sz="2950" dirty="0"/>
          </a:p>
        </p:txBody>
      </p:sp>
      <p:sp>
        <p:nvSpPr>
          <p:cNvPr id="4" name="Text 1"/>
          <p:cNvSpPr/>
          <p:nvPr/>
        </p:nvSpPr>
        <p:spPr>
          <a:xfrm>
            <a:off x="6332776" y="2034381"/>
            <a:ext cx="5203794"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Inputs: CCTV video-derived counts, loop and radar sensors, GPS probe data, and citizen feedback. Data are spatiotemporal: camera ID / lat-lon, timestamps, vehicle counts, speed distributions, and incident notes.</a:t>
            </a:r>
            <a:endParaRPr lang="en-US" sz="1450" dirty="0"/>
          </a:p>
        </p:txBody>
      </p:sp>
      <p:sp>
        <p:nvSpPr>
          <p:cNvPr id="5" name="Shape 2"/>
          <p:cNvSpPr/>
          <p:nvPr/>
        </p:nvSpPr>
        <p:spPr>
          <a:xfrm>
            <a:off x="661475" y="4198739"/>
            <a:ext cx="3496877" cy="2047180"/>
          </a:xfrm>
          <a:prstGeom prst="roundRect">
            <a:avLst>
              <a:gd name="adj" fmla="val 1385"/>
            </a:avLst>
          </a:prstGeom>
          <a:solidFill>
            <a:srgbClr val="292C32"/>
          </a:solidFill>
          <a:ln w="25399">
            <a:solidFill>
              <a:srgbClr val="61646A"/>
            </a:solidFill>
            <a:prstDash val="solid"/>
          </a:ln>
        </p:spPr>
      </p:sp>
      <p:sp>
        <p:nvSpPr>
          <p:cNvPr id="6" name="Text 3"/>
          <p:cNvSpPr/>
          <p:nvPr/>
        </p:nvSpPr>
        <p:spPr>
          <a:xfrm>
            <a:off x="875881" y="4413151"/>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D4D4D1"/>
                </a:solidFill>
                <a:latin typeface="IBM Plex Sans Medium" pitchFamily="34" charset="0"/>
                <a:ea typeface="IBM Plex Sans Medium" pitchFamily="34" charset="-122"/>
                <a:cs typeface="IBM Plex Sans Medium" pitchFamily="34" charset="-120"/>
              </a:rPr>
              <a:t>Structuring</a:t>
            </a:r>
            <a:endParaRPr lang="en-US" sz="1850" dirty="0"/>
          </a:p>
        </p:txBody>
      </p:sp>
      <p:sp>
        <p:nvSpPr>
          <p:cNvPr id="7" name="Text 4"/>
          <p:cNvSpPr/>
          <p:nvPr/>
        </p:nvSpPr>
        <p:spPr>
          <a:xfrm>
            <a:off x="875881" y="4821833"/>
            <a:ext cx="306806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Aggregate to fixed intervals (5-min), align timezones, and geohash road segments.</a:t>
            </a:r>
            <a:endParaRPr lang="en-US" sz="1450" dirty="0"/>
          </a:p>
        </p:txBody>
      </p:sp>
      <p:sp>
        <p:nvSpPr>
          <p:cNvPr id="8" name="Shape 5"/>
          <p:cNvSpPr/>
          <p:nvPr/>
        </p:nvSpPr>
        <p:spPr>
          <a:xfrm>
            <a:off x="4347359" y="4198739"/>
            <a:ext cx="3496877" cy="2047180"/>
          </a:xfrm>
          <a:prstGeom prst="roundRect">
            <a:avLst>
              <a:gd name="adj" fmla="val 1385"/>
            </a:avLst>
          </a:prstGeom>
          <a:solidFill>
            <a:srgbClr val="292C32"/>
          </a:solidFill>
          <a:ln w="25399">
            <a:solidFill>
              <a:srgbClr val="61646A"/>
            </a:solidFill>
            <a:prstDash val="solid"/>
          </a:ln>
        </p:spPr>
      </p:sp>
      <p:sp>
        <p:nvSpPr>
          <p:cNvPr id="9" name="Text 6"/>
          <p:cNvSpPr/>
          <p:nvPr/>
        </p:nvSpPr>
        <p:spPr>
          <a:xfrm>
            <a:off x="4561766" y="4413151"/>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D4D4D1"/>
                </a:solidFill>
                <a:latin typeface="IBM Plex Sans Medium" pitchFamily="34" charset="0"/>
                <a:ea typeface="IBM Plex Sans Medium" pitchFamily="34" charset="-122"/>
                <a:cs typeface="IBM Plex Sans Medium" pitchFamily="34" charset="-120"/>
              </a:rPr>
              <a:t>Cleaning</a:t>
            </a:r>
            <a:endParaRPr lang="en-US" sz="1850" dirty="0"/>
          </a:p>
        </p:txBody>
      </p:sp>
      <p:sp>
        <p:nvSpPr>
          <p:cNvPr id="10" name="Text 7"/>
          <p:cNvSpPr/>
          <p:nvPr/>
        </p:nvSpPr>
        <p:spPr>
          <a:xfrm>
            <a:off x="4561766" y="4821833"/>
            <a:ext cx="3068065"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Interpolate short gaps, drop faulty sensors, normalize counts by lane capacity; deduplicate citizen reports.</a:t>
            </a:r>
            <a:endParaRPr lang="en-US" sz="1450" dirty="0"/>
          </a:p>
        </p:txBody>
      </p:sp>
      <p:sp>
        <p:nvSpPr>
          <p:cNvPr id="11" name="Shape 8"/>
          <p:cNvSpPr/>
          <p:nvPr/>
        </p:nvSpPr>
        <p:spPr>
          <a:xfrm>
            <a:off x="8033244" y="4198739"/>
            <a:ext cx="3496877" cy="2047180"/>
          </a:xfrm>
          <a:prstGeom prst="roundRect">
            <a:avLst>
              <a:gd name="adj" fmla="val 1385"/>
            </a:avLst>
          </a:prstGeom>
          <a:solidFill>
            <a:srgbClr val="292C32"/>
          </a:solidFill>
          <a:ln w="25399">
            <a:solidFill>
              <a:srgbClr val="61646A"/>
            </a:solidFill>
            <a:prstDash val="solid"/>
          </a:ln>
        </p:spPr>
      </p:sp>
      <p:sp>
        <p:nvSpPr>
          <p:cNvPr id="12" name="Text 9"/>
          <p:cNvSpPr/>
          <p:nvPr/>
        </p:nvSpPr>
        <p:spPr>
          <a:xfrm>
            <a:off x="8247650" y="4413151"/>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D4D4D1"/>
                </a:solidFill>
                <a:latin typeface="IBM Plex Sans Medium" pitchFamily="34" charset="0"/>
                <a:ea typeface="IBM Plex Sans Medium" pitchFamily="34" charset="-122"/>
                <a:cs typeface="IBM Plex Sans Medium" pitchFamily="34" charset="-120"/>
              </a:rPr>
              <a:t>Storage</a:t>
            </a:r>
            <a:endParaRPr lang="en-US" sz="1850" dirty="0"/>
          </a:p>
        </p:txBody>
      </p:sp>
      <p:sp>
        <p:nvSpPr>
          <p:cNvPr id="13" name="Text 10"/>
          <p:cNvSpPr/>
          <p:nvPr/>
        </p:nvSpPr>
        <p:spPr>
          <a:xfrm>
            <a:off x="8247650" y="4821833"/>
            <a:ext cx="306806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MongoDB for events, Redis for low-latency rolling windows, S3 for archived video frames.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75270"/>
            <a:ext cx="6296860" cy="930275"/>
          </a:xfrm>
          <a:prstGeom prst="rect">
            <a:avLst/>
          </a:prstGeom>
          <a:noFill/>
          <a:ln/>
        </p:spPr>
        <p:txBody>
          <a:bodyPr wrap="square" lIns="0" tIns="0" rIns="0" bIns="0" rtlCol="0" anchor="t">
            <a:normAutofit/>
          </a:bodyPr>
          <a:lstStyle/>
          <a:p>
            <a:pPr marL="0" indent="0" algn="l">
              <a:lnSpc>
                <a:spcPct val="104000"/>
              </a:lnSpc>
              <a:buNone/>
            </a:pPr>
            <a:r>
              <a:rPr lang="en-US" sz="2900" dirty="0">
                <a:solidFill>
                  <a:srgbClr val="F3F3F2"/>
                </a:solidFill>
                <a:latin typeface="IBM Plex Sans Medium" pitchFamily="34" charset="0"/>
                <a:ea typeface="IBM Plex Sans Medium" pitchFamily="34" charset="-122"/>
                <a:cs typeface="IBM Plex Sans Medium" pitchFamily="34" charset="-120"/>
              </a:rPr>
              <a:t>Smart City — EDA, Features &amp; Modeling</a:t>
            </a:r>
            <a:endParaRPr lang="en-US" sz="2900" dirty="0"/>
          </a:p>
        </p:txBody>
      </p:sp>
      <p:sp>
        <p:nvSpPr>
          <p:cNvPr id="4" name="Text 1"/>
          <p:cNvSpPr/>
          <p:nvPr/>
        </p:nvSpPr>
        <p:spPr>
          <a:xfrm>
            <a:off x="661475" y="1780282"/>
            <a:ext cx="6296860" cy="885825"/>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D4D4D1"/>
                </a:solidFill>
                <a:latin typeface="Roboto" pitchFamily="34" charset="0"/>
                <a:ea typeface="Roboto" pitchFamily="34" charset="-122"/>
                <a:cs typeface="Roboto" pitchFamily="34" charset="-120"/>
              </a:rPr>
              <a:t>EDA identified consistent commute peaks (7–9 AM; 4–6 PM) and special-event spikes. Spatial dependence across adjacent road segments is non-Euclidean—graphs better represent connectivity than plain grids.</a:t>
            </a:r>
            <a:endParaRPr lang="en-US" sz="1450" dirty="0"/>
          </a:p>
        </p:txBody>
      </p:sp>
      <p:pic>
        <p:nvPicPr>
          <p:cNvPr id="5" name="Image 1" descr="preencoded.png"/>
          <p:cNvPicPr>
            <a:picLocks noChangeAspect="1"/>
          </p:cNvPicPr>
          <p:nvPr/>
        </p:nvPicPr>
        <p:blipFill>
          <a:blip>
            <a:extLst>
              <a:ext uri="{96DAC541-7B7A-43D3-8B79-37D633B846F1}">
                <asvg:svgBlip xmlns:asvg="http://schemas.microsoft.com/office/drawing/2016/SVG/main" xmlns="" r:embed="rId4"/>
              </a:ext>
            </a:extLst>
          </a:blip>
          <a:stretch>
            <a:fillRect/>
          </a:stretch>
        </p:blipFill>
        <p:spPr>
          <a:xfrm>
            <a:off x="661475" y="2872085"/>
            <a:ext cx="465126" cy="465138"/>
          </a:xfrm>
          <a:prstGeom prst="rect">
            <a:avLst/>
          </a:prstGeom>
        </p:spPr>
      </p:pic>
      <p:sp>
        <p:nvSpPr>
          <p:cNvPr id="6" name="Text 2"/>
          <p:cNvSpPr/>
          <p:nvPr/>
        </p:nvSpPr>
        <p:spPr>
          <a:xfrm>
            <a:off x="1355493" y="2872085"/>
            <a:ext cx="5602842" cy="290711"/>
          </a:xfrm>
          <a:prstGeom prst="rect">
            <a:avLst/>
          </a:prstGeom>
          <a:noFill/>
          <a:ln/>
        </p:spPr>
        <p:txBody>
          <a:bodyPr wrap="none" lIns="0" tIns="0" rIns="0" bIns="0" rtlCol="0" anchor="t"/>
          <a:lstStyle/>
          <a:p>
            <a:pPr marL="0" indent="0" algn="l">
              <a:lnSpc>
                <a:spcPct val="104000"/>
              </a:lnSpc>
              <a:buNone/>
            </a:pPr>
            <a:r>
              <a:rPr lang="en-US" sz="1800" dirty="0">
                <a:solidFill>
                  <a:srgbClr val="D4D4D1"/>
                </a:solidFill>
                <a:latin typeface="IBM Plex Sans Medium" pitchFamily="34" charset="0"/>
                <a:ea typeface="IBM Plex Sans Medium" pitchFamily="34" charset="-122"/>
                <a:cs typeface="IBM Plex Sans Medium" pitchFamily="34" charset="-120"/>
              </a:rPr>
              <a:t>Temporal Features</a:t>
            </a:r>
            <a:endParaRPr lang="en-US" sz="1800" dirty="0"/>
          </a:p>
        </p:txBody>
      </p:sp>
      <p:sp>
        <p:nvSpPr>
          <p:cNvPr id="7" name="Text 3"/>
          <p:cNvSpPr/>
          <p:nvPr/>
        </p:nvSpPr>
        <p:spPr>
          <a:xfrm>
            <a:off x="1355493" y="3272631"/>
            <a:ext cx="5602842"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D4D4D1"/>
                </a:solidFill>
                <a:latin typeface="Roboto" pitchFamily="34" charset="0"/>
                <a:ea typeface="Roboto" pitchFamily="34" charset="-122"/>
                <a:cs typeface="Roboto" pitchFamily="34" charset="-120"/>
              </a:rPr>
              <a:t>Lag counts, rolling windows, day-of-week, holiday flags, weather overlays.</a:t>
            </a:r>
            <a:endParaRPr lang="en-US" sz="1450" dirty="0"/>
          </a:p>
        </p:txBody>
      </p:sp>
      <p:pic>
        <p:nvPicPr>
          <p:cNvPr id="8" name="Image 2" descr="preencoded.png"/>
          <p:cNvPicPr>
            <a:picLocks noChangeAspect="1"/>
          </p:cNvPicPr>
          <p:nvPr/>
        </p:nvPicPr>
        <p:blipFill>
          <a:blip>
            <a:extLst>
              <a:ext uri="{96DAC541-7B7A-43D3-8B79-37D633B846F1}">
                <asvg:svgBlip xmlns:asvg="http://schemas.microsoft.com/office/drawing/2016/SVG/main" xmlns="" r:embed="rId5"/>
              </a:ext>
            </a:extLst>
          </a:blip>
          <a:stretch>
            <a:fillRect/>
          </a:stretch>
        </p:blipFill>
        <p:spPr>
          <a:xfrm>
            <a:off x="661475" y="4229497"/>
            <a:ext cx="465126" cy="465138"/>
          </a:xfrm>
          <a:prstGeom prst="rect">
            <a:avLst/>
          </a:prstGeom>
        </p:spPr>
      </p:pic>
      <p:sp>
        <p:nvSpPr>
          <p:cNvPr id="9" name="Text 4"/>
          <p:cNvSpPr/>
          <p:nvPr/>
        </p:nvSpPr>
        <p:spPr>
          <a:xfrm>
            <a:off x="1355493" y="4229497"/>
            <a:ext cx="5602842" cy="290711"/>
          </a:xfrm>
          <a:prstGeom prst="rect">
            <a:avLst/>
          </a:prstGeom>
          <a:noFill/>
          <a:ln/>
        </p:spPr>
        <p:txBody>
          <a:bodyPr wrap="none" lIns="0" tIns="0" rIns="0" bIns="0" rtlCol="0" anchor="t"/>
          <a:lstStyle/>
          <a:p>
            <a:pPr marL="0" indent="0" algn="l">
              <a:lnSpc>
                <a:spcPct val="104000"/>
              </a:lnSpc>
              <a:buNone/>
            </a:pPr>
            <a:r>
              <a:rPr lang="en-US" sz="1800" dirty="0">
                <a:solidFill>
                  <a:srgbClr val="D4D4D1"/>
                </a:solidFill>
                <a:latin typeface="IBM Plex Sans Medium" pitchFamily="34" charset="0"/>
                <a:ea typeface="IBM Plex Sans Medium" pitchFamily="34" charset="-122"/>
                <a:cs typeface="IBM Plex Sans Medium" pitchFamily="34" charset="-120"/>
              </a:rPr>
              <a:t>Spatial Features</a:t>
            </a:r>
            <a:endParaRPr lang="en-US" sz="1800" dirty="0"/>
          </a:p>
        </p:txBody>
      </p:sp>
      <p:sp>
        <p:nvSpPr>
          <p:cNvPr id="10" name="Text 5"/>
          <p:cNvSpPr/>
          <p:nvPr/>
        </p:nvSpPr>
        <p:spPr>
          <a:xfrm>
            <a:off x="1355493" y="4630043"/>
            <a:ext cx="5602842" cy="295275"/>
          </a:xfrm>
          <a:prstGeom prst="rect">
            <a:avLst/>
          </a:prstGeom>
          <a:noFill/>
          <a:ln/>
        </p:spPr>
        <p:txBody>
          <a:bodyPr wrap="none" lIns="0" tIns="0" rIns="0" bIns="0" rtlCol="0" anchor="t"/>
          <a:lstStyle/>
          <a:p>
            <a:pPr marL="0" indent="0" algn="l">
              <a:lnSpc>
                <a:spcPct val="132000"/>
              </a:lnSpc>
              <a:buNone/>
            </a:pPr>
            <a:r>
              <a:rPr lang="en-US" sz="1450" dirty="0">
                <a:solidFill>
                  <a:srgbClr val="D4D4D1"/>
                </a:solidFill>
                <a:latin typeface="Roboto" pitchFamily="34" charset="0"/>
                <a:ea typeface="Roboto" pitchFamily="34" charset="-122"/>
                <a:cs typeface="Roboto" pitchFamily="34" charset="-120"/>
              </a:rPr>
              <a:t>Graph adjacency, road capacity, intersection delay, nearby incidents.</a:t>
            </a:r>
            <a:endParaRPr lang="en-US" sz="1450" dirty="0"/>
          </a:p>
        </p:txBody>
      </p:sp>
      <p:pic>
        <p:nvPicPr>
          <p:cNvPr id="11" name="Image 3" descr="preencoded.png"/>
          <p:cNvPicPr>
            <a:picLocks noChangeAspect="1"/>
          </p:cNvPicPr>
          <p:nvPr/>
        </p:nvPicPr>
        <p:blipFill>
          <a:blip>
            <a:extLst>
              <a:ext uri="{96DAC541-7B7A-43D3-8B79-37D633B846F1}">
                <asvg:svgBlip xmlns:asvg="http://schemas.microsoft.com/office/drawing/2016/SVG/main" xmlns="" r:embed="rId6"/>
              </a:ext>
            </a:extLst>
          </a:blip>
          <a:stretch>
            <a:fillRect/>
          </a:stretch>
        </p:blipFill>
        <p:spPr>
          <a:xfrm>
            <a:off x="661475" y="5291634"/>
            <a:ext cx="465126" cy="465138"/>
          </a:xfrm>
          <a:prstGeom prst="rect">
            <a:avLst/>
          </a:prstGeom>
        </p:spPr>
      </p:pic>
      <p:sp>
        <p:nvSpPr>
          <p:cNvPr id="12" name="Text 6"/>
          <p:cNvSpPr/>
          <p:nvPr/>
        </p:nvSpPr>
        <p:spPr>
          <a:xfrm>
            <a:off x="1355493" y="5291634"/>
            <a:ext cx="5602842" cy="290711"/>
          </a:xfrm>
          <a:prstGeom prst="rect">
            <a:avLst/>
          </a:prstGeom>
          <a:noFill/>
          <a:ln/>
        </p:spPr>
        <p:txBody>
          <a:bodyPr wrap="none" lIns="0" tIns="0" rIns="0" bIns="0" rtlCol="0" anchor="t"/>
          <a:lstStyle/>
          <a:p>
            <a:pPr marL="0" indent="0" algn="l">
              <a:lnSpc>
                <a:spcPct val="104000"/>
              </a:lnSpc>
              <a:buNone/>
            </a:pPr>
            <a:r>
              <a:rPr lang="en-US" sz="1800" dirty="0">
                <a:solidFill>
                  <a:srgbClr val="D4D4D1"/>
                </a:solidFill>
                <a:latin typeface="IBM Plex Sans Medium" pitchFamily="34" charset="0"/>
                <a:ea typeface="IBM Plex Sans Medium" pitchFamily="34" charset="-122"/>
                <a:cs typeface="IBM Plex Sans Medium" pitchFamily="34" charset="-120"/>
              </a:rPr>
              <a:t>Modeling Approach</a:t>
            </a:r>
            <a:endParaRPr lang="en-US" sz="1800" dirty="0"/>
          </a:p>
        </p:txBody>
      </p:sp>
      <p:sp>
        <p:nvSpPr>
          <p:cNvPr id="13" name="Text 7"/>
          <p:cNvSpPr/>
          <p:nvPr/>
        </p:nvSpPr>
        <p:spPr>
          <a:xfrm>
            <a:off x="1355493" y="5692180"/>
            <a:ext cx="5602842"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D4D4D1"/>
                </a:solidFill>
                <a:latin typeface="Roboto" pitchFamily="34" charset="0"/>
                <a:ea typeface="Roboto" pitchFamily="34" charset="-122"/>
                <a:cs typeface="Roboto" pitchFamily="34" charset="-120"/>
              </a:rPr>
              <a:t>CNN for local spatial patterns + LSTM for temporal dynamics; explore Graph Neural Networks (GNN) to model road topology.</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1475" y="1058069"/>
            <a:ext cx="5203794" cy="2381647"/>
          </a:xfrm>
          <a:prstGeom prst="rect">
            <a:avLst/>
          </a:prstGeom>
        </p:spPr>
      </p:pic>
      <p:sp>
        <p:nvSpPr>
          <p:cNvPr id="3" name="Text 0"/>
          <p:cNvSpPr/>
          <p:nvPr/>
        </p:nvSpPr>
        <p:spPr>
          <a:xfrm>
            <a:off x="4646033" y="2780047"/>
            <a:ext cx="976966" cy="376409"/>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D4D4D1"/>
                </a:solidFill>
                <a:latin typeface="IBM Plex Sans Medium" pitchFamily="34" charset="0"/>
                <a:ea typeface="IBM Plex Sans Medium" pitchFamily="34" charset="-122"/>
                <a:cs typeface="IBM Plex Sans Medium" pitchFamily="34" charset="-120"/>
              </a:rPr>
              <a:t>Peak Mitigation</a:t>
            </a:r>
            <a:endParaRPr lang="en-US" sz="1150" dirty="0"/>
          </a:p>
        </p:txBody>
      </p:sp>
      <p:sp>
        <p:nvSpPr>
          <p:cNvPr id="4" name="Text 1"/>
          <p:cNvSpPr/>
          <p:nvPr/>
        </p:nvSpPr>
        <p:spPr>
          <a:xfrm>
            <a:off x="3414788" y="2780047"/>
            <a:ext cx="976966" cy="376409"/>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D4D4D1"/>
                </a:solidFill>
                <a:latin typeface="IBM Plex Sans Medium" pitchFamily="34" charset="0"/>
                <a:ea typeface="IBM Plex Sans Medium" pitchFamily="34" charset="-122"/>
                <a:cs typeface="IBM Plex Sans Medium" pitchFamily="34" charset="-120"/>
              </a:rPr>
              <a:t>Dynamic Control</a:t>
            </a:r>
            <a:endParaRPr lang="en-US" sz="1150" dirty="0"/>
          </a:p>
        </p:txBody>
      </p:sp>
      <p:sp>
        <p:nvSpPr>
          <p:cNvPr id="5" name="Text 2"/>
          <p:cNvSpPr/>
          <p:nvPr/>
        </p:nvSpPr>
        <p:spPr>
          <a:xfrm>
            <a:off x="2190235" y="2780047"/>
            <a:ext cx="976966" cy="376409"/>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D4D4D1"/>
                </a:solidFill>
                <a:latin typeface="IBM Plex Sans Medium" pitchFamily="34" charset="0"/>
                <a:ea typeface="IBM Plex Sans Medium" pitchFamily="34" charset="-122"/>
                <a:cs typeface="IBM Plex Sans Medium" pitchFamily="34" charset="-120"/>
              </a:rPr>
              <a:t>Short-term Forecast</a:t>
            </a:r>
            <a:endParaRPr lang="en-US" sz="1150" dirty="0"/>
          </a:p>
        </p:txBody>
      </p:sp>
      <p:sp>
        <p:nvSpPr>
          <p:cNvPr id="6" name="Text 3"/>
          <p:cNvSpPr/>
          <p:nvPr/>
        </p:nvSpPr>
        <p:spPr>
          <a:xfrm>
            <a:off x="938915" y="2780047"/>
            <a:ext cx="976966" cy="376409"/>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D4D4D1"/>
                </a:solidFill>
                <a:latin typeface="IBM Plex Sans Medium" pitchFamily="34" charset="0"/>
                <a:ea typeface="IBM Plex Sans Medium" pitchFamily="34" charset="-122"/>
                <a:cs typeface="IBM Plex Sans Medium" pitchFamily="34" charset="-120"/>
              </a:rPr>
              <a:t>Data Ingestion</a:t>
            </a:r>
            <a:endParaRPr lang="en-US" sz="1150" dirty="0"/>
          </a:p>
        </p:txBody>
      </p:sp>
      <p:sp>
        <p:nvSpPr>
          <p:cNvPr id="7" name="Text 4"/>
          <p:cNvSpPr/>
          <p:nvPr/>
        </p:nvSpPr>
        <p:spPr>
          <a:xfrm>
            <a:off x="6332776" y="1086545"/>
            <a:ext cx="5203794" cy="944959"/>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F3F3F2"/>
                </a:solidFill>
                <a:latin typeface="IBM Plex Sans Medium" pitchFamily="34" charset="0"/>
                <a:ea typeface="IBM Plex Sans Medium" pitchFamily="34" charset="-122"/>
                <a:cs typeface="IBM Plex Sans Medium" pitchFamily="34" charset="-120"/>
              </a:rPr>
              <a:t>Forecasting, Peaks &amp; Operational Impact</a:t>
            </a:r>
            <a:endParaRPr lang="en-US" sz="2950" dirty="0"/>
          </a:p>
        </p:txBody>
      </p:sp>
      <p:sp>
        <p:nvSpPr>
          <p:cNvPr id="8" name="Text 5"/>
          <p:cNvSpPr/>
          <p:nvPr/>
        </p:nvSpPr>
        <p:spPr>
          <a:xfrm>
            <a:off x="6332776" y="2220516"/>
            <a:ext cx="5203794"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Forecast horizon: 12 steps ahead (e.g., 1-hour with 5‑min intervals). Outputs feed dynamic lane allocation and pollution-aware rerouting. Peak detection triggers preemptive measures for emergency corridors.</a:t>
            </a:r>
            <a:endParaRPr lang="en-US" sz="1450" dirty="0"/>
          </a:p>
        </p:txBody>
      </p:sp>
      <p:sp>
        <p:nvSpPr>
          <p:cNvPr id="9" name="Shape 6"/>
          <p:cNvSpPr/>
          <p:nvPr/>
        </p:nvSpPr>
        <p:spPr>
          <a:xfrm>
            <a:off x="661475" y="3864967"/>
            <a:ext cx="5339820" cy="2147590"/>
          </a:xfrm>
          <a:prstGeom prst="roundRect">
            <a:avLst>
              <a:gd name="adj" fmla="val 1320"/>
            </a:avLst>
          </a:prstGeom>
          <a:solidFill>
            <a:srgbClr val="484B51"/>
          </a:solidFill>
          <a:ln/>
        </p:spPr>
      </p:sp>
      <p:sp>
        <p:nvSpPr>
          <p:cNvPr id="10" name="Shape 7"/>
          <p:cNvSpPr/>
          <p:nvPr/>
        </p:nvSpPr>
        <p:spPr>
          <a:xfrm>
            <a:off x="850482" y="4053979"/>
            <a:ext cx="567021" cy="567035"/>
          </a:xfrm>
          <a:prstGeom prst="ellipse">
            <a:avLst/>
          </a:prstGeom>
          <a:solidFill>
            <a:srgbClr val="FFBC8F"/>
          </a:solidFill>
          <a:ln/>
        </p:spPr>
      </p:sp>
      <p:pic>
        <p:nvPicPr>
          <p:cNvPr id="11" name="Image 1" descr="preencoded.png"/>
          <p:cNvPicPr>
            <a:picLocks noChangeAspect="1"/>
          </p:cNvPicPr>
          <p:nvPr/>
        </p:nvPicPr>
        <p:blipFill>
          <a:blip>
            <a:extLst>
              <a:ext uri="{96DAC541-7B7A-43D3-8B79-37D633B846F1}">
                <asvg:svgBlip xmlns:asvg="http://schemas.microsoft.com/office/drawing/2016/SVG/main" xmlns="" r:embed="rId4"/>
              </a:ext>
            </a:extLst>
          </a:blip>
          <a:stretch>
            <a:fillRect/>
          </a:stretch>
        </p:blipFill>
        <p:spPr>
          <a:xfrm>
            <a:off x="1006450" y="4209852"/>
            <a:ext cx="255085" cy="255091"/>
          </a:xfrm>
          <a:prstGeom prst="rect">
            <a:avLst/>
          </a:prstGeom>
        </p:spPr>
      </p:pic>
      <p:sp>
        <p:nvSpPr>
          <p:cNvPr id="12" name="Text 8"/>
          <p:cNvSpPr/>
          <p:nvPr/>
        </p:nvSpPr>
        <p:spPr>
          <a:xfrm>
            <a:off x="850482" y="4810026"/>
            <a:ext cx="4961806" cy="295275"/>
          </a:xfrm>
          <a:prstGeom prst="rect">
            <a:avLst/>
          </a:prstGeom>
          <a:noFill/>
          <a:ln/>
        </p:spPr>
        <p:txBody>
          <a:bodyPr wrap="none" lIns="0" tIns="0" rIns="0" bIns="0" rtlCol="0" anchor="t"/>
          <a:lstStyle/>
          <a:p>
            <a:pPr marL="0" indent="0" algn="l">
              <a:lnSpc>
                <a:spcPct val="104000"/>
              </a:lnSpc>
              <a:buNone/>
            </a:pPr>
            <a:r>
              <a:rPr lang="en-US" sz="1850" dirty="0">
                <a:solidFill>
                  <a:srgbClr val="D4D4D1"/>
                </a:solidFill>
                <a:latin typeface="IBM Plex Sans Medium" pitchFamily="34" charset="0"/>
                <a:ea typeface="IBM Plex Sans Medium" pitchFamily="34" charset="-122"/>
                <a:cs typeface="IBM Plex Sans Medium" pitchFamily="34" charset="-120"/>
              </a:rPr>
              <a:t>Expected Impact</a:t>
            </a:r>
            <a:endParaRPr lang="en-US" sz="1850" dirty="0"/>
          </a:p>
        </p:txBody>
      </p:sp>
      <p:sp>
        <p:nvSpPr>
          <p:cNvPr id="13" name="Text 9"/>
          <p:cNvSpPr/>
          <p:nvPr/>
        </p:nvSpPr>
        <p:spPr>
          <a:xfrm>
            <a:off x="850482" y="5218708"/>
            <a:ext cx="496180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Reduce commute times by ~20–30% in targeted corridors; lower idling emissions; faster emergency response.</a:t>
            </a:r>
            <a:endParaRPr lang="en-US" sz="1450" dirty="0"/>
          </a:p>
        </p:txBody>
      </p:sp>
      <p:sp>
        <p:nvSpPr>
          <p:cNvPr id="14" name="Shape 10"/>
          <p:cNvSpPr/>
          <p:nvPr/>
        </p:nvSpPr>
        <p:spPr>
          <a:xfrm>
            <a:off x="6190301" y="3864967"/>
            <a:ext cx="5339919" cy="2147590"/>
          </a:xfrm>
          <a:prstGeom prst="roundRect">
            <a:avLst>
              <a:gd name="adj" fmla="val 1320"/>
            </a:avLst>
          </a:prstGeom>
          <a:solidFill>
            <a:srgbClr val="484B51"/>
          </a:solidFill>
          <a:ln/>
        </p:spPr>
      </p:sp>
      <p:sp>
        <p:nvSpPr>
          <p:cNvPr id="15" name="Shape 11"/>
          <p:cNvSpPr/>
          <p:nvPr/>
        </p:nvSpPr>
        <p:spPr>
          <a:xfrm>
            <a:off x="6379308" y="4053979"/>
            <a:ext cx="567021" cy="567035"/>
          </a:xfrm>
          <a:prstGeom prst="ellipse">
            <a:avLst/>
          </a:prstGeom>
          <a:solidFill>
            <a:srgbClr val="FFBC8F"/>
          </a:solidFill>
          <a:ln/>
        </p:spPr>
      </p:sp>
      <p:pic>
        <p:nvPicPr>
          <p:cNvPr id="16" name="Image 2" descr="preencoded.png"/>
          <p:cNvPicPr>
            <a:picLocks noChangeAspect="1"/>
          </p:cNvPicPr>
          <p:nvPr/>
        </p:nvPicPr>
        <p:blipFill>
          <a:blip>
            <a:extLst>
              <a:ext uri="{96DAC541-7B7A-43D3-8B79-37D633B846F1}">
                <asvg:svgBlip xmlns:asvg="http://schemas.microsoft.com/office/drawing/2016/SVG/main" xmlns="" r:embed="rId5"/>
              </a:ext>
            </a:extLst>
          </a:blip>
          <a:stretch>
            <a:fillRect/>
          </a:stretch>
        </p:blipFill>
        <p:spPr>
          <a:xfrm>
            <a:off x="6535276" y="4209852"/>
            <a:ext cx="255085" cy="255091"/>
          </a:xfrm>
          <a:prstGeom prst="rect">
            <a:avLst/>
          </a:prstGeom>
        </p:spPr>
      </p:pic>
      <p:sp>
        <p:nvSpPr>
          <p:cNvPr id="17" name="Text 12"/>
          <p:cNvSpPr/>
          <p:nvPr/>
        </p:nvSpPr>
        <p:spPr>
          <a:xfrm>
            <a:off x="6379308" y="4810026"/>
            <a:ext cx="4961905" cy="295275"/>
          </a:xfrm>
          <a:prstGeom prst="rect">
            <a:avLst/>
          </a:prstGeom>
          <a:noFill/>
          <a:ln/>
        </p:spPr>
        <p:txBody>
          <a:bodyPr wrap="none" lIns="0" tIns="0" rIns="0" bIns="0" rtlCol="0" anchor="t"/>
          <a:lstStyle/>
          <a:p>
            <a:pPr marL="0" indent="0" algn="l">
              <a:lnSpc>
                <a:spcPct val="104000"/>
              </a:lnSpc>
              <a:buNone/>
            </a:pPr>
            <a:r>
              <a:rPr lang="en-US" sz="1850" dirty="0">
                <a:solidFill>
                  <a:srgbClr val="D4D4D1"/>
                </a:solidFill>
                <a:latin typeface="IBM Plex Sans Medium" pitchFamily="34" charset="0"/>
                <a:ea typeface="IBM Plex Sans Medium" pitchFamily="34" charset="-122"/>
                <a:cs typeface="IBM Plex Sans Medium" pitchFamily="34" charset="-120"/>
              </a:rPr>
              <a:t>Reliability</a:t>
            </a:r>
            <a:endParaRPr lang="en-US" sz="1850" dirty="0"/>
          </a:p>
        </p:txBody>
      </p:sp>
      <p:sp>
        <p:nvSpPr>
          <p:cNvPr id="18" name="Text 13"/>
          <p:cNvSpPr/>
          <p:nvPr/>
        </p:nvSpPr>
        <p:spPr>
          <a:xfrm>
            <a:off x="6379308" y="5218708"/>
            <a:ext cx="496190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Ensemble forecasts with uncertainty intervals and fallback rules for sensor outages.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465759"/>
            <a:ext cx="6296860" cy="944959"/>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F3F3F2"/>
                </a:solidFill>
                <a:latin typeface="IBM Plex Sans Medium" pitchFamily="34" charset="0"/>
                <a:ea typeface="IBM Plex Sans Medium" pitchFamily="34" charset="-122"/>
                <a:cs typeface="IBM Plex Sans Medium" pitchFamily="34" charset="-120"/>
              </a:rPr>
              <a:t>Learning Journey — Weeks 1–2 &amp; Project Synthesis</a:t>
            </a:r>
            <a:endParaRPr lang="en-US" sz="2950" dirty="0"/>
          </a:p>
        </p:txBody>
      </p:sp>
      <p:sp>
        <p:nvSpPr>
          <p:cNvPr id="4" name="Text 1"/>
          <p:cNvSpPr/>
          <p:nvPr/>
        </p:nvSpPr>
        <p:spPr>
          <a:xfrm>
            <a:off x="661475" y="2694186"/>
            <a:ext cx="6296860"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4D4D1"/>
                </a:solidFill>
                <a:latin typeface="Roboto" pitchFamily="34" charset="0"/>
                <a:ea typeface="Roboto" pitchFamily="34" charset="-122"/>
                <a:cs typeface="Roboto" pitchFamily="34" charset="-120"/>
              </a:rPr>
              <a:t>Weeks 1–2: Rapid onboarding—data inventory, environment setup (Docker, conda), basic EDA, and baseline models established. Project phase: iterative model development, domain-informed feature engineering, and deployment-ready pipelines for both agriculture and traffic domains.</a:t>
            </a:r>
            <a:endParaRPr lang="en-US" sz="1450" dirty="0"/>
          </a:p>
        </p:txBody>
      </p:sp>
      <p:sp>
        <p:nvSpPr>
          <p:cNvPr id="5" name="Text 2"/>
          <p:cNvSpPr/>
          <p:nvPr/>
        </p:nvSpPr>
        <p:spPr>
          <a:xfrm>
            <a:off x="661475" y="4116487"/>
            <a:ext cx="6296860" cy="1275755"/>
          </a:xfrm>
          <a:prstGeom prst="rect">
            <a:avLst/>
          </a:prstGeom>
          <a:noFill/>
          <a:ln/>
        </p:spPr>
        <p:txBody>
          <a:bodyPr wrap="square" lIns="0" tIns="75608" rIns="0" bIns="0" rtlCol="0" anchor="t">
            <a:normAutofit/>
          </a:bodyPr>
          <a:lstStyle/>
          <a:p>
            <a:pPr marL="294640" indent="-294640" algn="l">
              <a:lnSpc>
                <a:spcPct val="133000"/>
              </a:lnSpc>
              <a:buSzPct val="100000"/>
              <a:buChar char="•"/>
            </a:pPr>
            <a:r>
              <a:rPr lang="en-US" sz="1450" dirty="0">
                <a:solidFill>
                  <a:srgbClr val="D4D4D1"/>
                </a:solidFill>
                <a:latin typeface="Roboto" pitchFamily="34" charset="0"/>
                <a:ea typeface="Roboto" pitchFamily="34" charset="-122"/>
                <a:cs typeface="Roboto" pitchFamily="34" charset="-120"/>
              </a:rPr>
              <a:t>Skill growth: time-series methods, spatial modeling, MQTT &amp; low-latency infra</a:t>
            </a:r>
            <a:endParaRPr lang="en-US" sz="1450" dirty="0"/>
          </a:p>
          <a:p>
            <a:pPr marL="294640" indent="-294640" algn="l">
              <a:lnSpc>
                <a:spcPct val="133000"/>
              </a:lnSpc>
              <a:buSzPct val="100000"/>
              <a:buChar char="•"/>
            </a:pPr>
            <a:r>
              <a:rPr lang="en-US" sz="1450" dirty="0">
                <a:solidFill>
                  <a:srgbClr val="D4D4D1"/>
                </a:solidFill>
                <a:latin typeface="Roboto" pitchFamily="34" charset="0"/>
                <a:ea typeface="Roboto" pitchFamily="34" charset="-122"/>
                <a:cs typeface="Roboto" pitchFamily="34" charset="-120"/>
              </a:rPr>
              <a:t>Project output: reproducible pipelines, model interpretability, and deployment proofs-of-concept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743</Words>
  <Application>Microsoft Office PowerPoint</Application>
  <PresentationFormat>Widescreen</PresentationFormat>
  <Paragraphs>77</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IBM Plex Sans Medium</vt:lpstr>
      <vt:lpstr>Calibri</vt:lpstr>
      <vt:lpstr>IBM Plex Sans Light</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Naitik Goyal</dc:creator>
  <cp:lastModifiedBy>Dell</cp:lastModifiedBy>
  <cp:revision>4</cp:revision>
  <dcterms:created xsi:type="dcterms:W3CDTF">2026-08-29T17:50:14Z</dcterms:created>
  <dcterms:modified xsi:type="dcterms:W3CDTF">2026-09-04T10:01:35Z</dcterms:modified>
</cp:coreProperties>
</file>